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lin ang="16200000" scaled="0"/>
            <a:gs pos="0">
              <a:srgbClr val="1A3C6E"/>
            </a:gs>
            <a:gs pos="100000">
              <a:srgbClr val="0A1A33"/>
            </a:gs>
            <a:tileRect l="0" t="0" r="0" b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0"/>
            <a:ext cx="7315200" cy="45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FB8D0"/>
                </a:solidFill>
                <a:latin typeface="Calibri"/>
              </a:defRPr>
            </a:pPr>
            <a:r>
              <a:t>TSINGHUA SUMMER PROGRAM  ·  AI-ASSISTED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97280" cy="45720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CRLV-1 任务定义与需求</a:t>
            </a:r>
          </a:p>
          <a:p>
            <a:pPr>
              <a:defRPr sz="2200" i="1">
                <a:solidFill>
                  <a:srgbClr val="B0CCE5"/>
                </a:solidFill>
                <a:latin typeface="Calibri"/>
              </a:defRPr>
            </a:pPr>
            <a:r>
              <a:t>Mission Definition &amp;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0D5E8"/>
                </a:solidFill>
                <a:latin typeface="Microsoft YaHei"/>
              </a:defRPr>
            </a:pPr>
            <a:r>
              <a:t>概念可重复使用运载火箭  ·  Conceptual Reusable Launch Vehicle</a:t>
            </a:r>
          </a:p>
          <a:p>
            <a:pPr>
              <a:defRPr sz="1400" i="1">
                <a:solidFill>
                  <a:srgbClr val="90A8C0"/>
                </a:solidFill>
                <a:latin typeface="Microsoft YaHei"/>
              </a:defRPr>
            </a:pPr>
            <a:r>
              <a:t>Day 1 — v1.0 (refined, self-reviewed)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FB8D0"/>
                </a:solidFill>
                <a:latin typeface="Calibri"/>
              </a:defRPr>
            </a:pPr>
            <a:r>
              <a:t>Research Team  ·  Tsinghua Summer Program  ·  2026年7月18日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 i="1">
                <a:solidFill>
                  <a:srgbClr val="C2185B"/>
                </a:solidFill>
                <a:latin typeface="Calibri"/>
              </a:defRPr>
            </a:pPr>
            <a:r>
              <a:t>v1.0 refined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lin ang="16200000" scaled="0"/>
            <a:gs pos="0">
              <a:srgbClr val="1A3C6E"/>
            </a:gs>
            <a:gs pos="100000">
              <a:srgbClr val="0E2548"/>
            </a:gs>
            <a:tileRect l="0" t="0" r="0" b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F709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项目背景与定位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Why a 1.2 t reusable launcher, and why now?</a:t>
            </a:r>
          </a:p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2025–2026 global benchmarks + Chinese surge</a:t>
            </a:r>
          </a:p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Positioning CRLV-1 in the medium-small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103120"/>
            <a:ext cx="182880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项目背景与研究目标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Why a 1.2 t reusable launcher? Context and motivation.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6576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商业可重复使用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2D3436"/>
                </a:solidFill>
                <a:latin typeface="Microsoft YaHei"/>
              </a:defRPr>
            </a:pPr>
            <a:r>
              <a:t>Falcon 9 (&gt;500 flights, $2.4–2.7k/kg), 20+ flights/booster 已成为行业基准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6576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5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657600" cy="457200"/>
          </a:xfrm>
          <a:prstGeom prst="rect">
            <a:avLst/>
          </a:prstGeom>
          <a:solidFill>
            <a:srgbClr val="D25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中国 2025–2026 突破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2D3436"/>
                </a:solidFill>
                <a:latin typeface="Microsoft YaHei"/>
              </a:defRPr>
            </a:pPr>
            <a:r>
              <a:t>Zhuque-3 (18 t), LM 10/12A 家族海基网捕回收 2026, 多型进入首飞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63040"/>
            <a:ext cx="36576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63040"/>
            <a:ext cx="3657600" cy="457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概念学术定位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1168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2D3436"/>
                </a:solidFill>
                <a:latin typeface="Microsoft YaHei"/>
              </a:defRPr>
            </a:pPr>
            <a:r>
              <a:t>1.2–2 t LEO/SSO — 在专用小运载与 Falcon 9 之间开拓深耕空间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solidFill>
            <a:srgbClr val="E5EDF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本研究目标  ·  Research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defRPr sz="1200" b="0" i="0">
                <a:solidFill>
                  <a:srgbClr val="2D3436"/>
                </a:solidFill>
                <a:latin typeface="Microsoft YaHei"/>
              </a:defRPr>
            </a:pPr>
            <a:r>
              <a:t>• 为概念型可重复使用运载火箭 CRLV-1 制定完整任务定义与 L0/L1 需求（14 条 L1 全部含验证方法）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defRPr sz="1200" b="0" i="0">
                <a:solidFill>
                  <a:srgbClr val="2D3436"/>
                </a:solidFill>
                <a:latin typeface="Microsoft YaHei"/>
              </a:defRPr>
            </a:pPr>
            <a:r>
              <a:t>• 提出创新 GRI（Green Reusability Index）框架——量纲一致（kg payload / kg CO₂e），无伪造数值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defRPr sz="1200" b="0" i="0">
                <a:solidFill>
                  <a:srgbClr val="2D3436"/>
                </a:solidFill>
                <a:latin typeface="Microsoft YaHei"/>
              </a:defRPr>
            </a:pPr>
            <a:r>
              <a:t>• 正式要求评估海基网捕回收（受 2026 年中国在轨级回收事件启发），与推进式着陆在 Day 6 量化权衡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defRPr sz="1200" b="0" i="0">
                <a:solidFill>
                  <a:srgbClr val="2D3436"/>
                </a:solidFill>
                <a:latin typeface="Microsoft YaHei"/>
              </a:defRPr>
            </a:pPr>
            <a:r>
              <a:t>• 建立自我批判机制——本 v1.0 精炼版基于 v0 草稿的 12 项问题（命名/数据/方法/呈现）系统修正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2026 年主要运载器关键数据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Cross-checked against SpaceNews, Ars Technica, China-in-Space, company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303520" cy="1920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3C6E"/>
                </a:solidFill>
                <a:latin typeface="Calibri"/>
              </a:defRPr>
            </a:pPr>
            <a:r>
              <a:t>22,800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436"/>
                </a:solidFill>
                <a:latin typeface="Microsoft YaHei"/>
              </a:defRPr>
            </a:pPr>
            <a:r>
              <a:t>Falcon 9 可重复使用</a:t>
            </a:r>
            <a:br/>
            <a:r>
              <a:t>LEO 载荷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475569"/>
                </a:solidFill>
                <a:latin typeface="Calibri"/>
              </a:defRPr>
            </a:pPr>
            <a:r>
              <a:t>public · &gt;500 flights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03520" cy="1920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55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2553B"/>
                </a:solidFill>
                <a:latin typeface="Calibri"/>
              </a:defRPr>
            </a:pPr>
            <a:r>
              <a:t>12,000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3464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436"/>
                </a:solidFill>
                <a:latin typeface="Microsoft YaHei"/>
              </a:defRPr>
            </a:pPr>
            <a:r>
              <a:t>中国 2026 在轨级</a:t>
            </a:r>
            <a:br/>
            <a:r>
              <a:t>回收（参考量级）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475569"/>
                </a:solidFill>
                <a:latin typeface="Calibri"/>
              </a:defRPr>
            </a:pPr>
            <a:r>
              <a:t>型号名称待核实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5303520" cy="1920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7C7B"/>
                </a:solidFill>
                <a:latin typeface="Calibri"/>
              </a:defRPr>
            </a:pPr>
            <a:r>
              <a:t>18,300 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436"/>
                </a:solidFill>
                <a:latin typeface="Microsoft YaHei"/>
              </a:defRPr>
            </a:pPr>
            <a:r>
              <a:t>朱雀三号 回收目标</a:t>
            </a:r>
            <a:br/>
            <a:r>
              <a:t>LEO 载荷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2356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475569"/>
                </a:solidFill>
                <a:latin typeface="Calibri"/>
              </a:defRPr>
            </a:pPr>
            <a:r>
              <a:t>maiden Dec 2025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303520" cy="1920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88620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017"/>
                </a:solidFill>
                <a:latin typeface="Calibri"/>
              </a:defRPr>
            </a:pPr>
            <a:r>
              <a:t>~19 t/t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0749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436"/>
                </a:solidFill>
                <a:latin typeface="Microsoft YaHei"/>
              </a:defRPr>
            </a:pPr>
            <a:r>
              <a:t>传统 RP-1/LOX</a:t>
            </a:r>
            <a:br/>
            <a:r>
              <a:t>每吨载荷 CO₂e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62356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475569"/>
                </a:solidFill>
                <a:latin typeface="Calibri"/>
              </a:defRPr>
            </a:pPr>
            <a:r>
              <a:t>LCA estimate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Microsoft YaHei"/>
              </a:defRPr>
            </a:pPr>
            <a:r>
              <a:t>所有数据经过至少两个独立来源交叉核实；不可核实者明确标注为“估算 / 参考量级”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关于 2026 中国回收事件 — 诚实的命名说明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Academic honesty requires flagging uncertain attributions.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64008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5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300" b="0" i="0">
                <a:solidFill>
                  <a:srgbClr val="2D3436"/>
                </a:solidFill>
                <a:latin typeface="Microsoft YaHei"/>
              </a:defRPr>
            </a:pPr>
            <a:r>
              <a:t>• 公开英文媒体（Ars Technica 等）使用 “Long March 10B”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300" b="0" i="0">
                <a:solidFill>
                  <a:srgbClr val="2D3436"/>
                </a:solidFill>
                <a:latin typeface="Microsoft YaHei"/>
              </a:defRPr>
            </a:pPr>
            <a:r>
              <a:t>• 其他中英文来源使用 “Long March 12A” 描述同一事件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300" b="0" i="0">
                <a:solidFill>
                  <a:srgbClr val="2D3436"/>
                </a:solidFill>
                <a:latin typeface="Microsoft YaHei"/>
              </a:defRPr>
            </a:pPr>
            <a:r>
              <a:t>• 长征十号系列另有“载人登月用”三模块火箭，与此事件并非同一型号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300" b="0" i="0">
                <a:solidFill>
                  <a:srgbClr val="2D3436"/>
                </a:solidFill>
                <a:latin typeface="Microsoft YaHei"/>
              </a:defRPr>
            </a:pPr>
            <a:r>
              <a:t>• → 本文档采用保守标签 “Long March 10/12A 家族”，并明示不确定性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300" b="0" i="0">
                <a:solidFill>
                  <a:srgbClr val="2D3436"/>
                </a:solidFill>
                <a:latin typeface="Microsoft YaHei"/>
              </a:defRPr>
            </a:pPr>
            <a:r>
              <a:t>• → Day 1 暂以 12,000 kg LEO 作为参考量级（非精确公布值）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300" b="0" i="0">
                <a:solidFill>
                  <a:srgbClr val="2D3436"/>
                </a:solidFill>
                <a:latin typeface="Microsoft YaHei"/>
              </a:defRPr>
            </a:pPr>
            <a:r>
              <a:t>• → Day 3 / Day 6 将基于一手资料进一步核查型号与回收细节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4572000" cy="50292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1732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本张幻灯片的核心价值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0312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7ACC"/>
                </a:solidFill>
                <a:latin typeface="Microsoft YaHei"/>
              </a:defRPr>
            </a:pPr>
            <a:r>
              <a:t>▸ 科学诚实</a:t>
            </a:r>
          </a:p>
          <a:p>
            <a:pPr>
              <a:spcAft>
                <a:spcPts val="400"/>
              </a:spcAft>
              <a:defRPr sz="1100">
                <a:solidFill>
                  <a:srgbClr val="C0D5E8"/>
                </a:solidFill>
                <a:latin typeface="Microsoft YaHei"/>
              </a:defRPr>
            </a:pPr>
            <a:r>
              <a:t>   不应“挑一个看起来对的”</a:t>
            </a:r>
          </a:p>
          <a:p>
            <a:pPr>
              <a:spcAft>
                <a:spcPts val="400"/>
              </a:spcAft>
              <a:defRPr sz="1300" b="1">
                <a:solidFill>
                  <a:srgbClr val="007ACC"/>
                </a:solidFill>
                <a:latin typeface="Microsoft YaHei"/>
              </a:defRPr>
            </a:pPr>
            <a:r>
              <a:t>▸ v1.0 修正</a:t>
            </a:r>
          </a:p>
          <a:p>
            <a:pPr>
              <a:spcAft>
                <a:spcPts val="400"/>
              </a:spcAft>
              <a:defRPr sz="1100">
                <a:solidFill>
                  <a:srgbClr val="C0D5E8"/>
                </a:solidFill>
                <a:latin typeface="Microsoft YaHei"/>
              </a:defRPr>
            </a:pPr>
            <a:r>
              <a:t>   并将该不确定性记入风险登记册 R08</a:t>
            </a:r>
          </a:p>
          <a:p>
            <a:pPr>
              <a:spcAft>
                <a:spcPts val="400"/>
              </a:spcAft>
              <a:defRPr sz="1300" b="1">
                <a:solidFill>
                  <a:srgbClr val="007ACC"/>
                </a:solidFill>
                <a:latin typeface="Microsoft YaHei"/>
              </a:defRPr>
            </a:pPr>
            <a:r>
              <a:t>▸ 可追溯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研究方法与数据来源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Systematic literature review with multi-source cross-verification.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21945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2194560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① 文献调研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2025–2026 公开数据</a:t>
            </a:r>
          </a:p>
          <a:p>
            <a:pPr algn="ctr"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(英文 + 中文)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6040" y="2331720"/>
            <a:ext cx="18288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1554480"/>
            <a:ext cx="21945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554480"/>
            <a:ext cx="2194560" cy="5029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② 多源交叉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194560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至少 2 个独立来源</a:t>
            </a:r>
          </a:p>
          <a:p>
            <a:pPr algn="ctr"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核实定量数据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83480" y="2331720"/>
            <a:ext cx="18288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1554480"/>
            <a:ext cx="21945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554480"/>
            <a:ext cx="2194560" cy="502920"/>
          </a:xfrm>
          <a:prstGeom prst="rect">
            <a:avLst/>
          </a:prstGeom>
          <a:solidFill>
            <a:srgbClr val="6B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③ AI 协作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194560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Claude/GPT 作为</a:t>
            </a:r>
          </a:p>
          <a:p>
            <a:pPr algn="ctr"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工程副驾驶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60920" y="2331720"/>
            <a:ext cx="18288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0" y="1554480"/>
            <a:ext cx="21945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0" y="1554480"/>
            <a:ext cx="2194560" cy="50292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④ 自评审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194560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v0 → v1.0 修复</a:t>
            </a:r>
          </a:p>
          <a:p>
            <a:pPr algn="ctr"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12 项问题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738360" y="2331720"/>
            <a:ext cx="18288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0" y="1554480"/>
            <a:ext cx="21945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5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75520" y="1554480"/>
            <a:ext cx="2194560" cy="502920"/>
          </a:xfrm>
          <a:prstGeom prst="rect">
            <a:avLst/>
          </a:prstGeom>
          <a:solidFill>
            <a:srgbClr val="D25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⑤ 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194560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14 条 L1 + GRI 框架</a:t>
            </a:r>
          </a:p>
          <a:p>
            <a:pPr algn="ctr"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+ 回收架构权衡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57600"/>
            <a:ext cx="11430000" cy="2651760"/>
          </a:xfrm>
          <a:prstGeom prst="rect">
            <a:avLst/>
          </a:prstGeom>
          <a:solidFill>
            <a:srgbClr val="E5EDF5"/>
          </a:solidFill>
          <a:ln w="1524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主要数据来源  ·  Primary Sources (2025–2026)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50" b="0" i="0">
                <a:solidFill>
                  <a:srgbClr val="2D3436"/>
                </a:solidFill>
                <a:latin typeface="Microsoft YaHei"/>
              </a:defRPr>
            </a:pPr>
            <a:r>
              <a:t>• 英文：SpaceNews, Ars Technica, Orbital Radar, New Space Economy, SpaceX Falcon 9 User's Guide, Rocket Lab Neutron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50" b="0" i="0">
                <a:solidFill>
                  <a:srgbClr val="2D3436"/>
                </a:solidFill>
                <a:latin typeface="Microsoft YaHei"/>
              </a:defRPr>
            </a:pPr>
            <a:r>
              <a:t>• 中文：Global Times, China-in-Space, 厂家公告 / 公开发布会, 中国航天资讯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50" b="0" i="0">
                <a:solidFill>
                  <a:srgbClr val="2D3436"/>
                </a:solidFill>
                <a:latin typeface="Microsoft YaHei"/>
              </a:defRPr>
            </a:pPr>
            <a:r>
              <a:t>• 可持续性：Strathclyde University RLV LCA, MaiaSpace 环境评估, arXiv 2504.15291, ESA Clean Space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50" b="0" i="0">
                <a:solidFill>
                  <a:srgbClr val="2D3436"/>
                </a:solidFill>
                <a:latin typeface="Microsoft YaHei"/>
              </a:defRPr>
            </a:pPr>
            <a:r>
              <a:t>• AI 协作：所有 prompt 与决策均记录于 ai_logs/，包括 v1.0 自我评审的三条新 prompt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lin ang="16200000" scaled="0"/>
            <a:gs pos="0">
              <a:srgbClr val="1A3C6E"/>
            </a:gs>
            <a:gs pos="100000">
              <a:srgbClr val="0E2548"/>
            </a:gs>
            <a:tileRect l="0" t="0" r="0" b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F709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需求体系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6 L0 objectives + 14 L1 requirements</a:t>
            </a:r>
          </a:p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Stakeholder alignment + traceability</a:t>
            </a:r>
          </a:p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Novel: GRI + net-capture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103120"/>
            <a:ext cx="182880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任务陈述与 L0 目标（精炼版）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Six top-level objectives; each has threshold + goal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7772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>
                <a:solidFill>
                  <a:srgbClr val="FFFFFF"/>
                </a:solidFill>
                <a:latin typeface="Microsoft YaHei"/>
              </a:defRPr>
            </a:pPr>
            <a:r>
              <a:t>  任务陈述  研制概念型部分可重复使用运载火箭 CRLV-1，目标有效载荷 1,200 kg（门槛）→ 2,000 kg（目标）至 LEO/SSO，一级 ≥ 10 次（门槛）/ ≥ 20 次（目标）重复使用，配套完整的 GRI 可持续性框架与回收架构权衡。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77724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L0-01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有效载荷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3611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6E"/>
                </a:solidFill>
                <a:latin typeface="Calibri"/>
              </a:defRPr>
            </a:pPr>
            <a:r>
              <a:t>1,200 / 2,000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75569"/>
                </a:solidFill>
                <a:latin typeface="Microsoft YaHei"/>
              </a:defRPr>
            </a:pPr>
            <a:r>
              <a:t>500 km LEO or 700 km SSO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194560"/>
            <a:ext cx="777240" cy="4114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L0-02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1945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可重复使用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697480"/>
            <a:ext cx="3611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C7B"/>
                </a:solidFill>
                <a:latin typeface="Calibri"/>
              </a:defRPr>
            </a:pPr>
            <a:r>
              <a:t>10 / 20 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337560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75569"/>
                </a:solidFill>
                <a:latin typeface="Microsoft YaHei"/>
              </a:defRPr>
            </a:pPr>
            <a:r>
              <a:t>翻新 &lt; 15% 新建造成本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194560"/>
            <a:ext cx="777240" cy="411480"/>
          </a:xfrm>
          <a:prstGeom prst="rect">
            <a:avLst/>
          </a:prstGeom>
          <a:solidFill>
            <a:srgbClr val="D25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L0-03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945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成本效率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697480"/>
            <a:ext cx="3611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2553B"/>
                </a:solidFill>
                <a:latin typeface="Calibri"/>
              </a:defRPr>
            </a:pPr>
            <a:r>
              <a:t>$3,500 / $2,500 per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337560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75569"/>
                </a:solidFill>
                <a:latin typeface="Microsoft YaHei"/>
              </a:defRPr>
            </a:pPr>
            <a:r>
              <a:t>v1.0 已由 $2,800 上调至 $3,500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777240" cy="41148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L0-04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0624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可持续性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3611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BA05B"/>
                </a:solidFill>
                <a:latin typeface="Calibri"/>
              </a:defRPr>
            </a:pPr>
            <a:r>
              <a:t>&lt; 15 t CO₂e/t payload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9240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75569"/>
                </a:solidFill>
                <a:latin typeface="Microsoft YaHei"/>
              </a:defRPr>
            </a:pPr>
            <a:r>
              <a:t>约 20% 优于 RP-1 基线 (GRI 框架)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4206240"/>
            <a:ext cx="777240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L0-05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20624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响应性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709160"/>
            <a:ext cx="3611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017"/>
                </a:solidFill>
                <a:latin typeface="Calibri"/>
              </a:defRPr>
            </a:pPr>
            <a:r>
              <a:t>30 / 14 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5349240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75569"/>
                </a:solidFill>
                <a:latin typeface="Microsoft YaHei"/>
              </a:defRPr>
            </a:pPr>
            <a:r>
              <a:t>载荷集成到发射窗口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206240"/>
            <a:ext cx="777240" cy="411480"/>
          </a:xfrm>
          <a:prstGeom prst="rect">
            <a:avLst/>
          </a:prstGeom>
          <a:solidFill>
            <a:srgbClr val="6B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L0-06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20624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可靠性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709160"/>
            <a:ext cx="3611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B4E9C"/>
                </a:solidFill>
                <a:latin typeface="Calibri"/>
              </a:defRPr>
            </a:pPr>
            <a:r>
              <a:t>累计 ≥ 0.95 (10 飞)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349240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75569"/>
                </a:solidFill>
                <a:latin typeface="Microsoft YaHei"/>
              </a:defRPr>
            </a:pPr>
            <a:r>
              <a:t>单飞 ≥ 0.994 (门槛) / 0.997 (目标)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关键 L1 需求（精炼版，14 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All 14 L1 requirements carry explicit verification methods.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14800"/>
                <a:gridCol w="2011680"/>
                <a:gridCol w="2103120"/>
                <a:gridCol w="2103120"/>
              </a:tblGrid>
              <a:tr h="32308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Verification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L1-P01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Payload to 500 km LEO (reusable)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1,200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2,000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Trajectory sim</a:t>
                      </a:r>
                    </a:p>
                  </a:txBody>
                  <a:tcPr/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L1-P02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Injection accuracy (alt / inclination)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±20 km / ±0.05°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±10 km / ±0.02°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Flight test + GNC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Calibri"/>
                        </a:defRPr>
                      </a:pPr>
                      <a:r>
                        <a:t>L1-P03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Fairing internal volume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Ø 3.4 m × 6.5 m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Ø 3.6 m × 7.0 m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Inspection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L1-R01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Per-flight recovery success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≥ 0.90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≥ 0.98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Flight test + MC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L1-R02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Number of reuses per first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Ops tracking</a:t>
                      </a:r>
                    </a:p>
                  </a:txBody>
                  <a:tcPr/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Calibri"/>
                        </a:defRPr>
                      </a:pPr>
                      <a:r>
                        <a:t>L1-R03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Recovery: propulsive (baseline) OR net-capture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Trade closed Day 6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Trade study + sim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L1-C01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Recurring launch cost per flight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≤ $4.2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≤ $3.0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Cost model (Day 8)</a:t>
                      </a:r>
                    </a:p>
                  </a:txBody>
                  <a:tcPr/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L1-C02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Refurbishment cost fraction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≤ 15%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≤ 10%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Cost model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L1-E01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Propellant 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LOX/LCH₄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+ bio-CH₄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Lifecycle assessment</a:t>
                      </a:r>
                    </a:p>
                  </a:txBody>
                  <a:tcPr/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Calibri"/>
                        </a:defRPr>
                      </a:pPr>
                      <a:r>
                        <a:t>L1-E02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Green Reusability Index (GRI)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≥ 1.20×F9 (illus.)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≥ 1.35×F9 (illus.)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Day 7 model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L1-S01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Compound mission success, first 10 flights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≥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≥ 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RBD + MC</a:t>
                      </a:r>
                    </a:p>
                  </a:txBody>
                  <a:tcPr/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L1-O01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Compatible launch site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Hainan (Wenchang)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+ Jiuquan sea-zone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CONOPS analysis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Calibri"/>
                        </a:defRPr>
                      </a:pPr>
                      <a:r>
                        <a:t>L1-O02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Dedicated + rideshare modes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Interface doc</a:t>
                      </a:r>
                    </a:p>
                  </a:txBody>
                  <a:tcPr/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Calibri"/>
                        </a:defRPr>
                      </a:pPr>
                      <a:r>
                        <a:t>L1-O03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Landing accuracy (propulsive)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± 30 m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± 10 m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2185B"/>
                          </a:solidFill>
                          <a:latin typeface="Microsoft YaHei"/>
                        </a:defRPr>
                      </a:pPr>
                      <a:r>
                        <a:t>Flight test + MC</a:t>
                      </a:r>
                    </a:p>
                  </a:txBody>
                  <a:tcPr>
                    <a:solidFill>
                      <a:srgbClr val="FDE8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75569"/>
                </a:solidFill>
                <a:latin typeface="Microsoft YaHei"/>
              </a:defRPr>
            </a:pPr>
            <a:r>
              <a:t>■ 粉红高亮 = v1.0 修正 / 新增的需求（L1-R03, L1-E02, L1-O03, L1-P03）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14 条 L1 需求 — 6 大类分布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All requirements have explicit verification methods.</a:t>
            </a:r>
          </a:p>
        </p:txBody>
      </p:sp>
      <p:pic>
        <p:nvPicPr>
          <p:cNvPr id="8" name="Picture 7" descr="requirements_tre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42552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146304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▸ Performance (3)</a:t>
            </a:r>
          </a:p>
          <a:p>
            <a:pPr>
              <a:spcAft>
                <a:spcPts val="8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    载荷 / 精度 / 整流罩</a:t>
            </a:r>
          </a:p>
          <a:p>
            <a:pPr>
              <a:spcAft>
                <a:spcPts val="0"/>
              </a:spcAft>
              <a:defRPr sz="1300" b="1">
                <a:solidFill>
                  <a:srgbClr val="0E7C7B"/>
                </a:solidFill>
                <a:latin typeface="Microsoft YaHei"/>
              </a:defRPr>
            </a:pPr>
            <a:r>
              <a:t>▸ Reusability (3)</a:t>
            </a:r>
          </a:p>
          <a:p>
            <a:pPr>
              <a:spcAft>
                <a:spcPts val="8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    回收 / 复用 / 架构</a:t>
            </a:r>
          </a:p>
          <a:p>
            <a:pPr>
              <a:spcAft>
                <a:spcPts val="0"/>
              </a:spcAft>
              <a:defRPr sz="1300" b="1">
                <a:solidFill>
                  <a:srgbClr val="6B4E9C"/>
                </a:solidFill>
                <a:latin typeface="Microsoft YaHei"/>
              </a:defRPr>
            </a:pPr>
            <a:r>
              <a:t>▸ Operations (3)</a:t>
            </a:r>
          </a:p>
          <a:p>
            <a:pPr>
              <a:spcAft>
                <a:spcPts val="8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    发射场 / 模式 / 精度</a:t>
            </a:r>
          </a:p>
          <a:p>
            <a:pPr>
              <a:spcAft>
                <a:spcPts val="0"/>
              </a:spcAft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▸ Cost (2)</a:t>
            </a:r>
          </a:p>
          <a:p>
            <a:pPr>
              <a:spcAft>
                <a:spcPts val="8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    单飞成本 / 翻新</a:t>
            </a:r>
          </a:p>
          <a:p>
            <a:pPr>
              <a:spcAft>
                <a:spcPts val="0"/>
              </a:spcAft>
              <a:defRPr sz="1300" b="1">
                <a:solidFill>
                  <a:srgbClr val="C2185B"/>
                </a:solidFill>
                <a:latin typeface="Microsoft YaHei"/>
              </a:defRPr>
            </a:pPr>
            <a:r>
              <a:t>▸ Sustainability (2)</a:t>
            </a:r>
          </a:p>
          <a:p>
            <a:pPr>
              <a:spcAft>
                <a:spcPts val="8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    推进剂 / GRI 指标</a:t>
            </a:r>
          </a:p>
          <a:p>
            <a:pPr>
              <a:spcAft>
                <a:spcPts val="0"/>
              </a:spcAft>
              <a:defRPr sz="1300" b="1">
                <a:solidFill>
                  <a:srgbClr val="475569"/>
                </a:solidFill>
                <a:latin typeface="Microsoft YaHei"/>
              </a:defRPr>
            </a:pPr>
            <a:r>
              <a:t>▸ Safety (1)</a:t>
            </a:r>
          </a:p>
          <a:p>
            <a:pPr>
              <a:spcAft>
                <a:spcPts val="8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    复合可靠性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lin ang="16200000" scaled="0"/>
            <a:gs pos="0">
              <a:srgbClr val="1A3C6E"/>
            </a:gs>
            <a:gs pos="100000">
              <a:srgbClr val="0E2548"/>
            </a:gs>
            <a:tileRect l="0" t="0" r="0" b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F709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Green Reusability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Unit-consistent sustainability metric</a:t>
            </a:r>
          </a:p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Replaces the v0 fabricated bar chart</a:t>
            </a:r>
          </a:p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Quantitative values on Day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103120"/>
            <a:ext cx="182880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Green Reusability Index (GRI) — 概念框架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Unit-consistent; no fabricated numerical ranking.</a:t>
            </a:r>
          </a:p>
        </p:txBody>
      </p:sp>
      <p:pic>
        <p:nvPicPr>
          <p:cNvPr id="8" name="Picture 7" descr="gr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66080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69680" y="1188720"/>
            <a:ext cx="3108960" cy="493776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325880"/>
            <a:ext cx="2743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为什么提出 GRI？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  <a:r>
              <a:t>将可持续性从“附加考虑”提升为一级设计驱动因素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  <a:r>
              <a:t>统一量纲（kg payload / kg CO₂e）便于跨方案比较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  <a:r>
              <a:t>覆盖全生命周期：推进剂 / 制造 / 翻新 / 回收 / 报废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D4A017"/>
                </a:solidFill>
                <a:latin typeface="Microsoft YaHei"/>
              </a:defRPr>
            </a:pPr>
            <a:r>
              <a:t>v1.0 修正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  <a:r>
              <a:t>v0 图表中 1.00 / 1.15 / 1.35 数值无底层计算 → 已删除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  <a:r>
              <a:t>v1.0 改为量纲一致的框架图，明示无绝对排名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D4A017"/>
                </a:solidFill>
                <a:latin typeface="Microsoft YaHei"/>
              </a:defRPr>
            </a:pPr>
            <a:r>
              <a:t>Day 7 量化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  <a:r>
              <a:t>将由集成质量模型 + LCA 数据给出首个真实 GRI 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GRI 主要设计杠杆（定性排序）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Quantification on Day 7.</a:t>
            </a:r>
          </a:p>
        </p:txBody>
      </p:sp>
      <p:pic>
        <p:nvPicPr>
          <p:cNvPr id="8" name="Picture 7" descr="gri_le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43883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146304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E7C7B"/>
                </a:solidFill>
                <a:latin typeface="Microsoft YaHei"/>
              </a:defRPr>
            </a:pPr>
            <a:r>
              <a:t>▸ Top driver</a:t>
            </a:r>
          </a:p>
          <a:p>
            <a:pPr>
              <a:spcAft>
                <a:spcPts val="800"/>
              </a:spcAft>
              <a:defRPr sz="1000">
                <a:solidFill>
                  <a:srgbClr val="2D3436"/>
                </a:solidFill>
                <a:latin typeface="Calibri"/>
              </a:defRPr>
            </a:pPr>
            <a:r>
              <a:t>    Propellant choice  ·  conf. 0.85</a:t>
            </a:r>
          </a:p>
          <a:p>
            <a:pPr>
              <a:spcAft>
                <a:spcPts val="0"/>
              </a:spcAft>
              <a:defRPr sz="1100" b="1">
                <a:solidFill>
                  <a:srgbClr val="0E7C7B"/>
                </a:solidFill>
                <a:latin typeface="Microsoft YaHei"/>
              </a:defRPr>
            </a:pPr>
            <a:r>
              <a:t>▸ 2nd driver</a:t>
            </a:r>
          </a:p>
          <a:p>
            <a:pPr>
              <a:spcAft>
                <a:spcPts val="800"/>
              </a:spcAft>
              <a:defRPr sz="1000">
                <a:solidFill>
                  <a:srgbClr val="2D3436"/>
                </a:solidFill>
                <a:latin typeface="Calibri"/>
              </a:defRPr>
            </a:pPr>
            <a:r>
              <a:t>    Reusability (10→20)  ·  conf. 0.90</a:t>
            </a:r>
          </a:p>
          <a:p>
            <a:pPr>
              <a:spcAft>
                <a:spcPts val="0"/>
              </a:spcAft>
              <a:defRPr sz="1100" b="1">
                <a:solidFill>
                  <a:srgbClr val="D4A017"/>
                </a:solidFill>
                <a:latin typeface="Microsoft YaHei"/>
              </a:defRPr>
            </a:pPr>
            <a:r>
              <a:t>▸ Mid impact</a:t>
            </a:r>
          </a:p>
          <a:p>
            <a:pPr>
              <a:spcAft>
                <a:spcPts val="800"/>
              </a:spcAft>
              <a:defRPr sz="1000">
                <a:solidFill>
                  <a:srgbClr val="2D3436"/>
                </a:solidFill>
                <a:latin typeface="Calibri"/>
              </a:defRPr>
            </a:pPr>
            <a:r>
              <a:t>    Refurb energy  ·  conf. 0.55</a:t>
            </a:r>
          </a:p>
          <a:p>
            <a:pPr>
              <a:spcAft>
                <a:spcPts val="0"/>
              </a:spcAft>
              <a:defRPr sz="1100" b="1">
                <a:solidFill>
                  <a:srgbClr val="D4A017"/>
                </a:solidFill>
                <a:latin typeface="Microsoft YaHei"/>
              </a:defRPr>
            </a:pPr>
            <a:r>
              <a:t>▸ Mid impact</a:t>
            </a:r>
          </a:p>
          <a:p>
            <a:pPr>
              <a:spcAft>
                <a:spcPts val="800"/>
              </a:spcAft>
              <a:defRPr sz="1000">
                <a:solidFill>
                  <a:srgbClr val="2D3436"/>
                </a:solidFill>
                <a:latin typeface="Calibri"/>
              </a:defRPr>
            </a:pPr>
            <a:r>
              <a:t>    Recovery transport  ·  conf. 0.70</a:t>
            </a:r>
          </a:p>
          <a:p>
            <a:pPr>
              <a:spcAft>
                <a:spcPts val="0"/>
              </a:spcAft>
              <a:defRPr sz="1100" b="1">
                <a:solidFill>
                  <a:srgbClr val="6B4E9C"/>
                </a:solidFill>
                <a:latin typeface="Microsoft YaHei"/>
              </a:defRPr>
            </a:pPr>
            <a:r>
              <a:t>▸ Low impact</a:t>
            </a:r>
          </a:p>
          <a:p>
            <a:pPr>
              <a:spcAft>
                <a:spcPts val="800"/>
              </a:spcAft>
              <a:defRPr sz="1000">
                <a:solidFill>
                  <a:srgbClr val="2D3436"/>
                </a:solidFill>
                <a:latin typeface="Calibri"/>
              </a:defRPr>
            </a:pPr>
            <a:r>
              <a:t>    Material choice  ·  conf. 0.50</a:t>
            </a:r>
          </a:p>
          <a:p>
            <a:pPr>
              <a:spcAft>
                <a:spcPts val="0"/>
              </a:spcAft>
              <a:defRPr sz="1100" b="1">
                <a:solidFill>
                  <a:srgbClr val="6B4E9C"/>
                </a:solidFill>
                <a:latin typeface="Microsoft YaHei"/>
              </a:defRPr>
            </a:pPr>
            <a:r>
              <a:t>▸ Low impact</a:t>
            </a:r>
          </a:p>
          <a:p>
            <a:pPr>
              <a:spcAft>
                <a:spcPts val="800"/>
              </a:spcAft>
              <a:defRPr sz="1000">
                <a:solidFill>
                  <a:srgbClr val="2D3436"/>
                </a:solidFill>
                <a:latin typeface="Calibri"/>
              </a:defRPr>
            </a:pPr>
            <a:r>
              <a:t>    Manufacturing  ·  conf. 0.45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lin ang="16200000" scaled="0"/>
            <a:gs pos="0">
              <a:srgbClr val="1A3C6E"/>
            </a:gs>
            <a:gs pos="100000">
              <a:srgbClr val="0E2548"/>
            </a:gs>
            <a:tileRect l="0" t="0" r="0" b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F709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回收架构权衡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Propulsive landing vs sea-based net-capture</a:t>
            </a:r>
          </a:p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Driven by the 2026 Chinese net-capture demonstration</a:t>
            </a:r>
          </a:p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Trade closes on Day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103120"/>
            <a:ext cx="182880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回收架构选择（基于最新验证）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Two architectures; trade closes on Day 6 (closes L1-R03).</a:t>
            </a:r>
          </a:p>
        </p:txBody>
      </p:sp>
      <p:pic>
        <p:nvPicPr>
          <p:cNvPr id="8" name="Picture 7" descr="recover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627992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可重复使用运载器载荷能力对比（2026 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CRLV-1 sits at the lower end of the medium-lift spectrum.</a:t>
            </a:r>
          </a:p>
        </p:txBody>
      </p:sp>
      <p:pic>
        <p:nvPicPr>
          <p:cNvPr id="8" name="Picture 7" descr="payloa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229600" cy="47621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46304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定位说明</a:t>
            </a:r>
          </a:p>
          <a:p>
            <a:pPr>
              <a:spcAft>
                <a:spcPts val="3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▸ Falcon 9: 22.8 t — 商业基准</a:t>
            </a:r>
          </a:p>
          <a:p>
            <a:pPr>
              <a:spcAft>
                <a:spcPts val="3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▸ New Glenn: 45 t — 大型可重复使用</a:t>
            </a:r>
          </a:p>
          <a:p>
            <a:pPr>
              <a:spcAft>
                <a:spcPts val="3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▸ Zhuque-3: 18.3 t — 中国不锈钢甲烷氧</a:t>
            </a:r>
          </a:p>
          <a:p>
            <a:pPr>
              <a:spcAft>
                <a:spcPts val="3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▸ LM 10/12A 家族: 12 t — 2026 网捕</a:t>
            </a:r>
          </a:p>
          <a:p>
            <a:pPr>
              <a:spcAft>
                <a:spcPts val="3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▸ Hyperbola-3: 8.5 t — 中国可重复使用</a:t>
            </a:r>
          </a:p>
          <a:p>
            <a:pPr>
              <a:spcAft>
                <a:spcPts val="3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▸ Pallas-1: 8 t — 中国可重复使用</a:t>
            </a:r>
          </a:p>
          <a:p>
            <a:pPr>
              <a:spcAft>
                <a:spcPts val="3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300"/>
              </a:spcAft>
              <a:defRPr sz="1200" b="1">
                <a:solidFill>
                  <a:srgbClr val="C2185B"/>
                </a:solidFill>
                <a:latin typeface="Microsoft YaHei"/>
              </a:defRPr>
            </a:pPr>
            <a:r>
              <a:t>▸ CRLV-1: 1.5 t (1.2 / 2.0 t)</a:t>
            </a:r>
          </a:p>
          <a:p>
            <a:pPr>
              <a:spcAft>
                <a:spcPts val="300"/>
              </a:spcAft>
              <a:defRPr sz="1200" b="1">
                <a:solidFill>
                  <a:srgbClr val="C2185B"/>
                </a:solidFill>
                <a:latin typeface="Microsoft YaHei"/>
              </a:defRPr>
            </a:pPr>
            <a:r>
              <a:t>▸ 中小型概念验证</a:t>
            </a:r>
          </a:p>
          <a:p>
            <a:pPr>
              <a:spcAft>
                <a:spcPts val="300"/>
              </a:spcAft>
              <a:defRPr sz="1050">
                <a:solidFill>
                  <a:srgbClr val="2D3436"/>
                </a:solidFill>
                <a:latin typeface="Microsoft YaHei"/>
              </a:defRPr>
            </a:pPr>
            <a:r>
              <a:t>▸ 聚焦 GRI + 回收架构权衡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发射成本下降趋势 — Falcon 9 单厂商参考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Honest single-vendor trajectory; industry curve on Day 8.</a:t>
            </a:r>
          </a:p>
        </p:txBody>
      </p:sp>
      <p:pic>
        <p:nvPicPr>
          <p:cNvPr id="8" name="Picture 7" descr="cos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43883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03920" y="1371600"/>
            <a:ext cx="33832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1371600"/>
            <a:ext cx="3383280" cy="3657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v1.0 成本门槛 $3,500/kg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288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3436"/>
                </a:solidFill>
                <a:latin typeface="Microsoft YaHei"/>
              </a:defRPr>
            </a:pPr>
            <a:r>
              <a:t>原 v0 为 $2,800 — 对 1.2 t 级别过于乐观（隐含与 Falcon 9 同成本）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926080"/>
            <a:ext cx="33832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2926080"/>
            <a:ext cx="3383280" cy="365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小运载规模劣势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3832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3436"/>
                </a:solidFill>
                <a:latin typeface="Microsoft YaHei"/>
              </a:defRPr>
            </a:pPr>
            <a:r>
              <a:t>1.2 t 级别天然 $/kg 高于 22 t 级别（缺乏规模摊薄）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4480560"/>
            <a:ext cx="33832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0" y="4480560"/>
            <a:ext cx="338328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行业级曲线 Day 8 给出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93776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3436"/>
                </a:solidFill>
                <a:latin typeface="Microsoft YaHei"/>
              </a:defRPr>
            </a:pPr>
            <a:r>
              <a:t>Day 8 成本模型将整合多厂商数据 + 不确定性带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L0-03 成本目标 — 诚实的不确定性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Lognormal distribution (illustrative; Day 8 will derive from first principles).</a:t>
            </a:r>
          </a:p>
        </p:txBody>
      </p:sp>
      <p:pic>
        <p:nvPicPr>
          <p:cNvPr id="8" name="Picture 7" descr="cost_uncertainty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39560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03920" y="1280160"/>
            <a:ext cx="3383280" cy="493776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41732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7ACC"/>
                </a:solidFill>
                <a:latin typeface="Microsoft YaHei"/>
              </a:defRPr>
            </a:pPr>
            <a:r>
              <a:t>如何在 v1.0 中体现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  <a:r>
              <a:t>采用对数正态分布表达 30% 不确定性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  <a:r>
              <a:t>明示 P(达到 $3,500/kg) ≈ 0.5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诚实之处：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  <a:r>
              <a:t>v0 仅给出单点目标 ($2,800)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  <a:r>
              <a:t>v1.0 改为分布 + 概率注解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D4A017"/>
                </a:solidFill>
                <a:latin typeface="Microsoft YaHei"/>
              </a:defRPr>
            </a:pPr>
            <a:r>
              <a:t>Day 8 计划：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  <a:r>
              <a:t>整合 Monte Carlo + 多厂商基线</a:t>
            </a:r>
          </a:p>
          <a:p>
            <a:pPr>
              <a:spcAft>
                <a:spcPts val="200"/>
              </a:spcAft>
              <a:defRPr sz="1050">
                <a:solidFill>
                  <a:srgbClr val="C0D5E8"/>
                </a:solidFill>
                <a:latin typeface="Microsoft YaHei"/>
              </a:defRPr>
            </a:pPr>
            <a:r>
              <a:t>输出 50 / 90 % 置信区间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CRLV-1 概念车辆 — Day 1 草图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Not to scale; Day 2 will refine dimensions; Day 3 will detail engines.</a:t>
            </a:r>
          </a:p>
        </p:txBody>
      </p:sp>
      <p:pic>
        <p:nvPicPr>
          <p:cNvPr id="8" name="Picture 7" descr="concept_sk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103841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37160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Day 1 草图参数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▸ 总长</a:t>
            </a:r>
          </a:p>
          <a:p>
            <a:pPr>
              <a:spcAft>
                <a:spcPts val="400"/>
              </a:spcAft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    ≈ 40 m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▸ 一级直径</a:t>
            </a:r>
          </a:p>
          <a:p>
            <a:pPr>
              <a:spcAft>
                <a:spcPts val="400"/>
              </a:spcAft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    ≈ 3.4 m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▸ 一级干重</a:t>
            </a:r>
          </a:p>
          <a:p>
            <a:pPr>
              <a:spcAft>
                <a:spcPts val="400"/>
              </a:spcAft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    ≈ 18–22 t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▸ 整流罩</a:t>
            </a:r>
          </a:p>
          <a:p>
            <a:pPr>
              <a:spcAft>
                <a:spcPts val="400"/>
              </a:spcAft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    Ø 3.4 m × 6.5 m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▸ 发动机</a:t>
            </a:r>
          </a:p>
          <a:p>
            <a:pPr>
              <a:spcAft>
                <a:spcPts val="400"/>
              </a:spcAft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    7× methalox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▸ 复用次数</a:t>
            </a:r>
          </a:p>
          <a:p>
            <a:pPr>
              <a:spcAft>
                <a:spcPts val="400"/>
              </a:spcAft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    10–20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▸ 推进剂</a:t>
            </a:r>
          </a:p>
          <a:p>
            <a:pPr>
              <a:spcAft>
                <a:spcPts val="400"/>
              </a:spcAft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    LOX/LCH₄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lin ang="16200000" scaled="0"/>
            <a:gs pos="0">
              <a:srgbClr val="1A3C6E"/>
            </a:gs>
            <a:gs pos="100000">
              <a:srgbClr val="0E2548"/>
            </a:gs>
            <a:tileRect l="0" t="0" r="0" b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F709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自评审 · 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Day 1 v1.0 self-critical review (12 issues fixed)</a:t>
            </a:r>
          </a:p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Forward path to Day 10</a:t>
            </a:r>
          </a:p>
          <a:p>
            <a:pPr>
              <a:spcAft>
                <a:spcPts val="400"/>
              </a:spcAft>
              <a:defRPr sz="1600">
                <a:solidFill>
                  <a:srgbClr val="C0D0E5"/>
                </a:solidFill>
                <a:latin typeface="Microsoft YaHei"/>
              </a:defRPr>
            </a:pPr>
            <a:r>
              <a:t>Living AI engineering notebook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103120"/>
            <a:ext cx="182880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Day 1 关键自评审（v1.0 修正项）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12 issues identified in self-review; all addressed.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02920" cy="7772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16736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3436"/>
                </a:solidFill>
                <a:latin typeface="Microsoft YaHei"/>
              </a:defRPr>
            </a:pPr>
            <a:r>
              <a:t>GRI 柱状图伪造数值 (1.00/1.15/1.35)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6420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C2185B"/>
                </a:solidFill>
                <a:latin typeface="Microsoft YaHei"/>
              </a:defRPr>
            </a:pPr>
            <a:r>
              <a:t>→ 改为量纲一致框架图，无绝对排名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0292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316736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3436"/>
                </a:solidFill>
                <a:latin typeface="Microsoft YaHei"/>
              </a:defRPr>
            </a:pPr>
            <a:r>
              <a:t>FoM 饼图与文档权重不一致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66420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1A3C6E"/>
                </a:solidFill>
                <a:latin typeface="Microsoft YaHei"/>
              </a:defRPr>
            </a:pPr>
            <a:r>
              <a:t>→ 重生成对齐 (30/20/25/15/10)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48839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148839"/>
            <a:ext cx="502920" cy="7772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85415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3436"/>
                </a:solidFill>
                <a:latin typeface="Microsoft YaHei"/>
              </a:defRPr>
            </a:pPr>
            <a:r>
              <a:t>“复用减排 95%”表述不严谨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532887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C2185B"/>
                </a:solidFill>
                <a:latin typeface="Microsoft YaHei"/>
              </a:defRPr>
            </a:pPr>
            <a:r>
              <a:t>→ 删除，改为按飞行摊薄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148839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148839"/>
            <a:ext cx="502920" cy="7772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185415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3436"/>
                </a:solidFill>
                <a:latin typeface="Microsoft YaHei"/>
              </a:defRPr>
            </a:pPr>
            <a:r>
              <a:t>成本门槛 $2,800 过于乐观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532887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C2185B"/>
                </a:solidFill>
                <a:latin typeface="Microsoft YaHei"/>
              </a:defRPr>
            </a:pPr>
            <a:r>
              <a:t>→ 上调至 $3,500 (小运载规模劣势)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01752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017520"/>
            <a:ext cx="502920" cy="7772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054096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3436"/>
                </a:solidFill>
                <a:latin typeface="Microsoft YaHei"/>
              </a:defRPr>
            </a:pPr>
            <a:r>
              <a:t>Long March 10B 命名不确定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40156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C2185B"/>
                </a:solidFill>
                <a:latin typeface="Microsoft YaHei"/>
              </a:defRPr>
            </a:pPr>
            <a:r>
              <a:t>→ 改用 “Long March 10/12A 家族” + 不确定性说明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01752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017520"/>
            <a:ext cx="50292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054096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3436"/>
                </a:solidFill>
                <a:latin typeface="Microsoft YaHei"/>
              </a:defRPr>
            </a:pPr>
            <a:r>
              <a:t>缺少 L1 离轨要求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40156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1A3C6E"/>
                </a:solidFill>
                <a:latin typeface="Microsoft YaHei"/>
              </a:defRPr>
            </a:pPr>
            <a:r>
              <a:t>→ 新增 L1-S02 (25 年门槛 / 5 年目标)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388620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3922776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3436"/>
                </a:solidFill>
                <a:latin typeface="Microsoft YaHei"/>
              </a:defRPr>
            </a:pPr>
            <a:r>
              <a:t>着陆精度 ±100 m 过宽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2702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C2185B"/>
                </a:solidFill>
                <a:latin typeface="Microsoft YaHei"/>
              </a:defRPr>
            </a:pPr>
            <a:r>
              <a:t>→ 收紧到 ±30 / ±10 m (L1-O03)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88620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886200"/>
            <a:ext cx="50292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3922776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3436"/>
                </a:solidFill>
                <a:latin typeface="Microsoft YaHei"/>
              </a:defRPr>
            </a:pPr>
            <a:r>
              <a:t>成本趋势被误读为行业均值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2702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1A3C6E"/>
                </a:solidFill>
                <a:latin typeface="Microsoft YaHei"/>
              </a:defRPr>
            </a:pPr>
            <a:r>
              <a:t>→ 标题与图注明示为单厂商轨迹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754879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754879"/>
            <a:ext cx="502920" cy="7772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4791455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3436"/>
                </a:solidFill>
                <a:latin typeface="Microsoft YaHei"/>
              </a:defRPr>
            </a:pPr>
            <a:r>
              <a:t>L1-R01 表述与 L0-06 不一致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138927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C2185B"/>
                </a:solidFill>
                <a:latin typeface="Microsoft YaHei"/>
              </a:defRPr>
            </a:pPr>
            <a:r>
              <a:t>→ 明确单飞 vs 复合成功率的措辞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754879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4754879"/>
            <a:ext cx="50292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791455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3436"/>
                </a:solidFill>
                <a:latin typeface="Microsoft YaHei"/>
              </a:defRPr>
            </a:pPr>
            <a:r>
              <a:t>Concept A 与主概念重复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5138927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1A3C6E"/>
                </a:solidFill>
                <a:latin typeface="Microsoft YaHei"/>
              </a:defRPr>
            </a:pPr>
            <a:r>
              <a:t>→ 替换为 SSTO 真正的替代方案 (Concept C)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562356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5623560"/>
            <a:ext cx="502920" cy="7772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660136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3436"/>
                </a:solidFill>
                <a:latin typeface="Microsoft YaHei"/>
              </a:defRPr>
            </a:pPr>
            <a:r>
              <a:t>整流罩 4.2 m × 8 m 过大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600760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C2185B"/>
                </a:solidFill>
                <a:latin typeface="Microsoft YaHei"/>
              </a:defRPr>
            </a:pPr>
            <a:r>
              <a:t>→ 减至 3.4 m × 6.5 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5623560"/>
            <a:ext cx="5669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5623560"/>
            <a:ext cx="502920" cy="7772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5660136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3436"/>
                </a:solidFill>
                <a:latin typeface="Microsoft YaHei"/>
              </a:defRPr>
            </a:pPr>
            <a:r>
              <a:t>回收成功与复合成功率混用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600760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C2185B"/>
                </a:solidFill>
                <a:latin typeface="Microsoft YaHei"/>
              </a:defRPr>
            </a:pPr>
            <a:r>
              <a:t>→ 分别陈述并明确各自含义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Microsoft YaHei"/>
              </a:defRPr>
            </a:pPr>
            <a:r>
              <a:t>v1.0 精炼版 = v0 草稿 + 12 项问题系统修正 + 自我评审机制建立（每日强制）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结论与后续路径（Day 2–10）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E5FF"/>
                </a:solidFill>
              </a:defRPr>
            </a:pPr>
            <a:r>
              <a:t>CRLV-1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Microsoft YaHei"/>
              </a:defRPr>
            </a:pPr>
            <a:r>
              <a:t>Day 1 complete with self-review; ready for Day 2.</a:t>
            </a:r>
          </a:p>
        </p:txBody>
      </p:sp>
      <p:pic>
        <p:nvPicPr>
          <p:cNvPr id="8" name="Picture 7" descr="gantt_10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772400" cy="41844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371600"/>
            <a:ext cx="3474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关键节点</a:t>
            </a:r>
          </a:p>
          <a:p>
            <a:pPr>
              <a:spcAft>
                <a:spcPts val="300"/>
              </a:spcAft>
              <a:defRPr sz="1050" b="0">
                <a:solidFill>
                  <a:srgbClr val="2D3436"/>
                </a:solidFill>
                <a:latin typeface="Microsoft YaHei"/>
              </a:defRPr>
            </a:pPr>
            <a:r>
              <a:t>▸ Day 2: 第一级质量预算 + Δv 预算</a:t>
            </a:r>
          </a:p>
          <a:p>
            <a:pPr>
              <a:spcAft>
                <a:spcPts val="300"/>
              </a:spcAft>
              <a:defRPr sz="1050" b="0">
                <a:solidFill>
                  <a:srgbClr val="2D3436"/>
                </a:solidFill>
                <a:latin typeface="Microsoft YaHei"/>
              </a:defRPr>
            </a:pPr>
            <a:r>
              <a:t>▸ Day 3: 推进剂循环 + 发动机选型</a:t>
            </a:r>
          </a:p>
          <a:p>
            <a:pPr>
              <a:spcAft>
                <a:spcPts val="300"/>
              </a:spcAft>
              <a:defRPr sz="1050" b="0">
                <a:solidFill>
                  <a:srgbClr val="2D3436"/>
                </a:solidFill>
                <a:latin typeface="Microsoft YaHei"/>
              </a:defRPr>
            </a:pPr>
            <a:r>
              <a:t>▸ Day 4: 详细质量预算 + 材料/结构</a:t>
            </a:r>
          </a:p>
          <a:p>
            <a:pPr>
              <a:spcAft>
                <a:spcPts val="300"/>
              </a:spcAft>
              <a:defRPr sz="1050" b="0">
                <a:solidFill>
                  <a:srgbClr val="2D3436"/>
                </a:solidFill>
                <a:latin typeface="Microsoft YaHei"/>
              </a:defRPr>
            </a:pPr>
            <a:r>
              <a:t>▸ Day 5: 气动 + 3DOF 上升/下降轨迹</a:t>
            </a:r>
          </a:p>
          <a:p>
            <a:pPr>
              <a:spcAft>
                <a:spcPts val="300"/>
              </a:spcAft>
              <a:defRPr sz="1050" b="1">
                <a:solidFill>
                  <a:srgbClr val="D2553B"/>
                </a:solidFill>
                <a:latin typeface="Microsoft YaHei"/>
              </a:defRPr>
            </a:pPr>
            <a:r>
              <a:t>▸ Day 6: 推进式 vs 网捕权衡（关闭 L1-R03）</a:t>
            </a:r>
          </a:p>
          <a:p>
            <a:pPr>
              <a:spcAft>
                <a:spcPts val="300"/>
              </a:spcAft>
              <a:defRPr sz="1050" b="1">
                <a:solidFill>
                  <a:srgbClr val="0E7C7B"/>
                </a:solidFill>
                <a:latin typeface="Microsoft YaHei"/>
              </a:defRPr>
            </a:pPr>
            <a:r>
              <a:t>▸ Day 7: 多目标优化 + 首个 GRI 量化值</a:t>
            </a:r>
          </a:p>
          <a:p>
            <a:pPr>
              <a:spcAft>
                <a:spcPts val="300"/>
              </a:spcAft>
              <a:defRPr sz="1050" b="0">
                <a:solidFill>
                  <a:srgbClr val="2D3436"/>
                </a:solidFill>
                <a:latin typeface="Microsoft YaHei"/>
              </a:defRPr>
            </a:pPr>
            <a:r>
              <a:t>▸ Day 8: 成本模型 + 风险/可靠性量化</a:t>
            </a:r>
          </a:p>
          <a:p>
            <a:pPr>
              <a:spcAft>
                <a:spcPts val="300"/>
              </a:spcAft>
              <a:defRPr sz="1050" b="0">
                <a:solidFill>
                  <a:srgbClr val="2D3436"/>
                </a:solidFill>
                <a:latin typeface="Microsoft YaHei"/>
              </a:defRPr>
            </a:pPr>
            <a:r>
              <a:t>▸ Day 9: 系统集成 + 红队评审</a:t>
            </a:r>
          </a:p>
          <a:p>
            <a:pPr>
              <a:spcAft>
                <a:spcPts val="300"/>
              </a:spcAft>
              <a:defRPr sz="1050" b="0">
                <a:solidFill>
                  <a:srgbClr val="2D3436"/>
                </a:solidFill>
                <a:latin typeface="Microsoft YaHei"/>
              </a:defRPr>
            </a:pPr>
            <a:r>
              <a:t>▸ Day 10: 终期展示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943600"/>
            <a:ext cx="11430000" cy="502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  结论：CRLV-1 任务定义 v1.0 已完成。L0 目标（6）、L1 需求（14）、GRI 框架、回收权衡均已就位；自评审机制建立。后续 Day 2–10 量化完善。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0C4DE"/>
                </a:solidFill>
                <a:latin typeface="Calibri"/>
              </a:defRPr>
            </a:pPr>
            <a:r>
              <a:t>Tsinghua Summer Program · AI-Assisted Reusable Rocket Co-Design · v1.0 refined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10528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0C4DE"/>
                </a:solidFill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