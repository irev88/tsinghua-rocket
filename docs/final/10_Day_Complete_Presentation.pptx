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941832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Co-Design of a Reusable Rocket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CCE5FF"/>
                </a:solidFill>
              </a:defRPr>
            </a:pPr>
            <a:r>
              <a:t>10-Day Summer Program — Complete Technical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</a:defRPr>
            </a:pPr>
            <a:r>
              <a:t>Tsinghua University Summer Program  ·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B8A9"/>
                </a:solidFill>
              </a:defRPr>
            </a:pPr>
            <a:r>
              <a:t>Conceptual Vehicle: CRLV-1  |  Payload: 1.2–2.0 t to LEO/SSO  |  Reusable First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</a:defRPr>
            </a:pPr>
            <a:r>
              <a:t>AI-Assisted Multidisciplinary Engineering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Program Overview — 10 Days, One Conceptual RLV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• Objective: Design a conceptual reusable launch vehicle (RLV) using AI-assisted engineering workflows</a:t>
            </a:r>
          </a:p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• Focus: Requirements decomposition, MDO, trade-off analysis, uncertainty quantification, engineering communication</a:t>
            </a:r>
          </a:p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• Philosophy: Scientific process &gt; perfect rocket  |  Novelty &gt; replication  |  Documentation &gt; results</a:t>
            </a:r>
          </a:p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• Team: 3–5 students + LLM copilot + Prof. Xu (Chief Engineer) + Graduate mentors</a:t>
            </a:r>
          </a:p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• Deliverables: Mission report, mass budgets, propulsion trade, trajectory sims, recovery concept, optimization, cost/risk, technical review, final presentation</a:t>
            </a:r>
          </a:p>
          <a:p>
            <a:pPr>
              <a:spcAft>
                <a:spcPts val="800"/>
              </a:spcAft>
              <a:defRPr sz="1500">
                <a:solidFill>
                  <a:srgbClr val="2D3436"/>
                </a:solidFill>
              </a:defRPr>
            </a:pPr>
            <a:r>
              <a:t>• AI Protocol: Every major decision logged with prompt, response, rationale, and impact (see ai_logs/)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10-Day Schedule (from Program PDF)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914400"/>
                <a:gridCol w="2011680"/>
                <a:gridCol w="320040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Day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Date (2026)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Primary Deliverable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Focus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Jul 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Mission Definition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Mission Requirements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Stakeholders, CONOPS, L0/L1 reqs, sustainability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Jul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Rocket Fundamentals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First-Order Sizing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Rocket equation, mass fractions, strawman vehicle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Jul 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Propulsion System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Engine Selection Trade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Engine DB, methalox vs kerolox, Pugh matrix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Jul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Mass Budget &amp;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Vehicle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Subsystem mass roll-up, CFRP/Al-Li/AM, TPS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Jul 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Aerodynamics &amp; Trajectory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Flight Profile Report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3DOF ascent/descent, heating, landing dispersion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Jul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Reusability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Recovery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Propulsive vs net-capture, turnaround, GNC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Jul 17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AI-Assisted Optimization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Design Iteration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MDO, Pareto front, LLM mutation, PINN surrogate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Jul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Reliability &amp; Economics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Cost &amp; Risk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Cost model, Monte Carlo, business case, GRI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Jul 19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System Integration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Technical Review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Mass closure, interface control, red-team critique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Jul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Design Competition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Final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Story arc, demo, notebook export, repo package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Guiding Principles (from 10_DAY_BLUEPRINT.md)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Core Principles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Scientific Process First: Hypotheses → models → validation → iteration → documented rationale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AI as Copilot, Not Oracle: Ideation, code, literature synthesis, trade-offs — always log prompts + decisions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Novelty Preference: Bio-inspired recovery, PINN surrogates, sustainable propellants, explainable MOO, metamaterial TPS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Academic Professionalism: Reproducible artifacts, UQ, balanced trade-offs, clear communication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Scope Realism: Conceptual vehicle, first-order models + selective high-fidelity pockets, 1–2 novel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Daily Practice &amp; Tools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Cross-Cutting Threads (every day):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AI interaction logging (ai_logs/)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Uncertainty &amp; sensitivity analysis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Sustainability / lifecycle angle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Benchmarking vs real vehicles (Falcon 9, Zhuque-3, Neutron, LM-10B)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Engineering notebook updates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Tools Stack: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Python (NumPy, SciPy, Matplotlib, Pandas, SymPy)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RocketPy / OpenRocket / custom 3DOF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PyTorch/JAX for surrogates, pymoo for MDO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Plotly for interactive trades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Markdown + LaTeX for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1: Mission Definition — Completed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Key Requirements &amp; Innovations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L0 Objectives (6): Payload 1.2–2.0 t, ≥10 reuse, &lt;$2.8k/kg, CO₂e &lt;15 t/t, 30-day responsiveness, 0.95 reliability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L1 Requirements (15+): Performance, reusability, cost, environment, reliability, operations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Novel: Green Reusability Index (GRI) as top-level FoM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Novel: Explicit net-capture recovery evaluation (LM-10B 2026 demo)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Stakeholder matrix, CONOPS, risk register, traceability skeleton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Vehicle comparison table: 10 reference vehicles (2026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Deliverable Artifacts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Artifacts in docs/01_mission_requirements/: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mission_requirements.md (v0.2, 92 lines)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research_summary_2026.md (115 lines, 2025-26 data)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vehicle_comparison_table.md (10 vehicles)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stakeholder_analysis.md, initial_conops.md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risk_register.md, requirements_traceability.md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mission_concepts_alternatives.md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AI Logs: prompts/day01_mission_definition.md, decisions/day01_initial.md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Engineering notebook: Day 1 entry with hypotheses, decisions, open questions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1: Key Reference Data (2025–2026 Verified)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2026 Benchmark Data &amp; CRLV-1 Targets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20116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ACC"/>
                </a:solidFill>
              </a:defRPr>
            </a:pPr>
            <a:r>
              <a:t>22,800 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6"/>
                </a:solidFill>
              </a:defRPr>
            </a:pPr>
            <a:r>
              <a:t>Falcon 9 Reusable LEO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474720" cy="20116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55448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B8A9"/>
                </a:solidFill>
              </a:defRPr>
            </a:pPr>
            <a:r>
              <a:t>~18,300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4688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6"/>
                </a:solidFill>
              </a:defRPr>
            </a:pPr>
            <a:r>
              <a:t>Zhuque-3 Recovered LEO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371600"/>
            <a:ext cx="3474720" cy="20116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55448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</a:defRPr>
            </a:pPr>
            <a:r>
              <a:t>~16,000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4688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6"/>
                </a:solidFill>
              </a:defRPr>
            </a:pPr>
            <a:r>
              <a:t>LM-10B Net Capture LEO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3474720" cy="20116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</a:defRPr>
            </a:pPr>
            <a:r>
              <a:t>8,500 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6"/>
                </a:solidFill>
              </a:defRPr>
            </a:pPr>
            <a:r>
              <a:t>Hyperbola-3 Recovered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3657600"/>
            <a:ext cx="3474720" cy="20116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84048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0392B"/>
                </a:solidFill>
              </a:defRPr>
            </a:pPr>
            <a:r>
              <a:t>8,000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47548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6"/>
                </a:solidFill>
              </a:defRPr>
            </a:pPr>
            <a:r>
              <a:t>Pallas-1 Baseline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657600"/>
            <a:ext cx="3474720" cy="20116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384048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3C6E"/>
                </a:solidFill>
              </a:defRPr>
            </a:pPr>
            <a:r>
              <a:t>~19 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47548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6"/>
                </a:solidFill>
              </a:defRPr>
            </a:pPr>
            <a:r>
              <a:t>RP-1/LOX CO₂e/t payload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943600"/>
            <a:ext cx="3474720" cy="20116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12648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ACC"/>
                </a:solidFill>
              </a:defRPr>
            </a:pPr>
            <a:r>
              <a:t>1,200–2,000 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0408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6"/>
                </a:solidFill>
              </a:defRPr>
            </a:pPr>
            <a:r>
              <a:t>CRLV-1 Target Payload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5943600"/>
            <a:ext cx="3474720" cy="20116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612648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B8A9"/>
                </a:solidFill>
              </a:defRPr>
            </a:pPr>
            <a:r>
              <a:t>10–20 flights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70408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6"/>
                </a:solidFill>
              </a:defRPr>
            </a:pPr>
            <a:r>
              <a:t>CRLV-1 Reuse Target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5943600"/>
            <a:ext cx="3474720" cy="20116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9" y="612648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</a:defRPr>
            </a:pPr>
            <a:r>
              <a:t>&lt;$2,800/kg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9" y="70408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6"/>
                </a:solidFill>
              </a:defRPr>
            </a:pPr>
            <a:r>
              <a:t>Target Recurring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1: Generated Figures</a:t>
            </a:r>
          </a:p>
        </p:txBody>
      </p:sp>
      <p:pic>
        <p:nvPicPr>
          <p:cNvPr id="4" name="Picture 3" descr="payloa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3657600" cy="20301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6"/>
                </a:solidFill>
              </a:defRPr>
            </a:pPr>
            <a:r>
              <a:t>Reusable LEO Payload Comparison (2026)</a:t>
            </a:r>
          </a:p>
        </p:txBody>
      </p:sp>
      <p:pic>
        <p:nvPicPr>
          <p:cNvPr id="6" name="Picture 5" descr="cost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188720"/>
            <a:ext cx="3657600" cy="1968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6"/>
                </a:solidFill>
              </a:defRPr>
            </a:pPr>
            <a:r>
              <a:t>Launch Cost Trend Driven by Reusability</a:t>
            </a:r>
          </a:p>
        </p:txBody>
      </p:sp>
      <p:pic>
        <p:nvPicPr>
          <p:cNvPr id="8" name="Picture 7" descr="gri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188720"/>
            <a:ext cx="3657600" cy="22294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D3436"/>
                </a:solidFill>
              </a:defRPr>
            </a:pPr>
            <a:r>
              <a:t>Green Reusability Index (GRI) Concept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2: Rocket Fundamentals &amp; First-Order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Plan &amp; Objectives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Objectives: Rocket equation, staging laws, mass/dimension estimation, baseline strawman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Novel: Symbolic regression for historical sizing laws, adaptive structural ratio by recovery mode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Activities: Sizing script (code/sizing/), sensitivity on Isp &amp; structural coeff, mass breakdown charts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AI Co-pilot: Alternative architectures (SSTO reusable, TSTO, air-launch hybrid)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Outputs: vehicle_sizing_report.md, baseline_mass_budget.csv, sizing_*.png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Key parameters: Payload 1.2–2.0 t, Δv ~3.8 km/s (reusable), Isp 335 s (SL methalox)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Code &amp; Analysis Scope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Starter Code: code/sizing/first_order_sizer.py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Tsiolkovsky rocket equation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Dry mass estimation via structural coefficient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CLI args: payload, Δv, Isp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Placeholder for staging iteration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Planned Sensitivity Studies: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Structural coefficient: 0.06–0.12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Isp: 320–350 s (methalox range)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Recovery propellant margin: 5–20%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Payload growth: 1.2→2.0 t impact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Benchmarks: Falcon 9, Zhuque-3, Electron, Vega-C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2: first_order_sizer.py — Starter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code/sizing/first_order_sizer.py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G0 = 9.80665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def rocket_equation_dv(m0, mf, isp):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    return isp * G0 * np.log(m0 / mf)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def estimate_dry_mass(payload, prop_mass, struct_coeff=0.08):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    # struct_coeff = dry / (dry + prop)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    return struct_coeff * (payload + prop_mass) / (1 - struct_coeff)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def size_vehicle(payload_kg, dv_target, isp_sl, struct_coeff=0.08):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    # Iterative sizing with staging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    # TODO: Add upper stage, recovery margins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    pass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# CLI interface for quick trades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if __name__ == '__main__':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    parser.add_argument('--payload', default=1200)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    parser.add_argument('--dv', default=3800)</a:t>
            </a:r>
          </a:p>
          <a:p>
            <a:pPr>
              <a:spcAft>
                <a:spcPts val="200"/>
              </a:spcAft>
              <a:defRPr sz="1100">
                <a:solidFill>
                  <a:srgbClr val="2D3436"/>
                </a:solidFill>
                <a:latin typeface="Consolas"/>
              </a:defRPr>
            </a:pPr>
            <a:r>
              <a:t>    parser.add_argument('--isp', default=335)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3: Propulsion System — Engine Selection 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Plan &amp; Novel Angles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Objectives: Survey candidate engines, propulsion trade study, tank/feed sizing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Novel: Green propellants (LOX/LCH4 vs additives), throttleable aerospike, dual-mode boost+recovery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Physics-informed surrogate for chamber performance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AI Co-pilot: Weighted Pugh matrix for 6+ candidate engines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Criteria: Isp, T/W, throttle range, reusability heritage, cost, manufacturability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Outputs: engine_selection_trade.md, engines.csv, propulsion_trade.py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Engine Candidates &amp; Trade Space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Candidate Engine Database (data/benchmarks/engines.csv):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SpaceX Raptor 2/3 (methalox, 350s vac, deep throttle)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Blue Origin BE-4 (methalox, 339s vac, 55% throttle)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Landspace Tianque-12B (methalox, Zhuque-3, 9 engines)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iSpace JD-1 (kerolox → methalox transition)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Galactic Energy CQ-50 (kerolox, Pallas-1)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CASC Longyun (methalox, LM-12A)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Aerojet MRL10 (upper stage RL10-class)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Trade Dimensions: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Stage count (7–9 booster engines)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Thrust-to-weight at liftoff (&gt;1.3)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Restart capability for recovery burns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4: Mass Budget &amp; Advanced Materials — Vehicle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Objectives &amp; Novel Materials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Objectives: Detailed subsystem mass breakdown, material selection, structural sizing, tank design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Novel Focus: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3D-printed additively manufactured tank domes + lattice structures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Metamaterials / functionally graded materials for TPS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Lifecycle mass: refurbishment mass penalty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Activities: Mass budget with margins, material property DB, simple structural model, architecture diagram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Outputs: vehicle_architecture.md, materials_db.json, structures/ subsystem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Mass Categories &amp; Material Options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Subsystem Mass Breakdown Categories: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Structures: Tanks, interstage, thrust structure, grid fins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Propulsion: Engines, TVC, feed lines, pressurization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Recovery: Legs (or net-capture interface), TPS, RCS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Avionics: GNC, comm, power, harness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Residuals &amp; Margin: 10–15% system margin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Material Trade Matrix: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Al-Li 2195 (heritage, weldable, good cryo)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CFRP (high specific strength, complex joints, cost)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Ti alloys (high temp, recovery hardware)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Stainless 304L (Starship approach, low cost, heavy)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AM lattice cores (weight savings, inspection challenge)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5: Aerodynamics &amp; Trajectory — Flight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Plan &amp; Novel Approaches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Objectives: Conceptual aero config, 3DOF/6DOF sim, ascent + descent profiles, q_max, heating, landing footprint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Novel Ideas: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PINN (Physics-Informed NN) as fast trajectory surrogate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Bio-inspired variable camber / morphing surfaces for recovery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Monte Carlo dispersion on wind/guidance errors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Activities: Implement/adapt trajectory code, generate altitude-velocity, heat rate, g-load plots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AI Co-pilot: 3DOF simulator code + 3 non-standard recovery trajectories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Outputs: flight_profile_report.md, trajectory_*.png, trajectory_sensitivity/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Trajectory Phases &amp; Outputs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Key Trajectory Phases to Model: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1. Ascent: Pitch program, gravity turn, staging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2. Booster separation &amp; boostback/entry burn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3. Reentry: Hypersonic → transonic, grid fin control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4. Landing burn: Terminal guidance, hover, touchdown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Key Outputs for Trade Studies: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Δv budget breakdown (ascent + recovery)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Max q, max g, stagnation point heating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Landing ellipse (3σ) vs propellant margin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Grid fin sizing for control authority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Tools: Custom 3DOF (Python), RocketPy for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6: Reusability Strategy — Recovery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Recovery Options &amp; Brainstormed Concepts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Objectives: Choose primary recovery method, size hardware, define ground ops &amp; turnaround, assess reuse number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Baseline: Propulsive landing + grid fins + legs (Falcon-like)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Novel Alternative (from LM-10B 2026): Net capture on sea platform — no landing legs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Brainstormed Novel Concepts (draft/brainstorm/novel_recovery_ideas.md):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1. Hybrid drone-assisted mid-air capture + retro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2. Bio-inspired variable geometry / morphing surfaces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3. Ocean platform with active wave compensation + magnetic capture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4. ML landing controller with propellant slosh damping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5. Circular recovery hardware (AM remanufacturing)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Activities: Recovery mass model, landing accuracy vs propellant trade, turnaround timeline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Outputs: recovery_concept.md, subsystems/recovery/, Day 6 trade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Trade Dimensions &amp; Metrics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Trade Study Dimensions: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Mass penalty (legs ~1–2% dry mass vs net ship ops)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Reliability (leg deployment vs net capture success)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Turnaround time (pad vs ship return)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Infrastructure cost (drone ship vs net vessel)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Environmental impact (transport emissions)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Key Metrics: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Recovery success rate ≥90% after 5 flights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Turnaround ≤30 days (goal 14)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Refurb cost &lt;10% of stage manufacturing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Landing accuracy ≤100 m (3σ)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AI Prompt: "Compare 5 unconventional recovery architectures with rough mass penalty and TRL"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7: AI-Assisted Optimization — Design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Objectives &amp; Novel AI Methods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Objectives: Multi-objective optimization (mass, cost, reliability, environment), major design iteration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Novel Focus (from draft/brainstorm/optimization_novelty.md):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LLM-guided evolutionary operators (mutation = architecture suggestion)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PINN as fast surrogate inside optimizer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Multi-fidelity Bayesian optimization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Human-in-the-loop interactive Pareto steering via natural language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AI Multi-Agent Session: Structures, Propulsion, Aero agents debate 5 radical variants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Activities: Implement optimization/, run 2–3 cases, document Pareto front + selected point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Outputs: optimization_report.md, updated baseline, strong notebook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Optimization Formulation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Optimization Problem Formulation: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Objectives (weighted from Day 1 FoM):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  1. Maximize reusable payload (30%)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  2. Minimize recurring $/kg (25%)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  3. Maximize reusability score (20%)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  4. Maximize GRI (15%)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  5. Minimize responsiveness days (10%)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Design Variables: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Booster diameter, length, engine count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Structural coefficient, propellant margin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Recovery architecture (legs vs net vs hybrid)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Material choices per subsystem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Upper stage config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Code: code/optimization/multi_objective.py (pymoo)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8: Reliability &amp; Economics — Cost and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Objectives &amp; Novel Economics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Objectives: First-order cost model, reliability block diagram, Monte Carlo cost/schedule, business case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Novel Angles: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Carbon pricing integrated into cost model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"Insurance" model for reusability risk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Sensitivity to flight rate &amp; refurb time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GRI as economic differentiator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Activities: Cost model script, risk register + mitigations, sensitivity tornado plots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Outputs: cost_risk_analysis.md, analysis/uq/, Monte Carlo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Cost Model &amp; Reliability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Cost Model Components: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Development (non-recurring):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  • Engine, structures, avionics, test, certification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Per-Flight (recurring):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  • Propellant, refurbishment, recovery ops, range, insurance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Refurbishment: Labor, parts, inspection, recertification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Reliability Approach: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Fault tree / reliability block diagram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Historical failure modes (engine, TPS, GNC, recovery)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Bayesian updating with flight data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Key Sensitivities: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Flight rate (2→12/yr) impact on $/kg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Refurb time (14→60 days) on fleet size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Carbon price ($50–200/t CO₂e) on propellant choice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9: Final System Integration — Technical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Integration Activities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Objectives: Consolidate subsystems, integrated checks, identify open issues, prepare technical review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Integration Checks: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Mass closure (dry + prop + payload = liftoff)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Performance closure (Δv budget with margins)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Margin review (mass, performance, thermal, control)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Interface compatibility (mech, electrical, fluid)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AI Red-Team Review: "List 10 strongest criticisms and potential fixes"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Activities: System-level summary, light ICD, red-team exercise, review package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Outputs: technical_review_package/, updated engineering_notebook.md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Review Package Contents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Technical Review Package Contents: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1. Vehicle configuration drawing (block/exploded)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2. Mass properties report (CG, MoI, margins)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3. Performance summary (payload, orbit, Δv)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4. Key trade study decisions &amp; rationale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5. Risk register with top 10 risks + mitigations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6. Cost estimate (dev + recurring + refurb)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7. GRI &amp; sustainability assessment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8. Open issues &amp; assumptions log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Review Format: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20-min presentation + 15-min Q&amp;A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Peer-style critique (mentors + AI red team)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Action items for Day 10 finalization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Day 10: Design Competition &amp; Showcase —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Presentation Narrative &amp; Activities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Objectives: 10–15 min presentation, supporting visuals, interactive demo, final notebook, polished repo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Presentation Story Arc: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1. Problem: Why this mission? (constellations, sustainability, responsiveness)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2. Process: Scientific method + AI copilot workflow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3. Concept: CRLV-1 configuration &amp; key specs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4. Trade-offs: Key decisions (propellant, recovery, materials) with evidence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5. Novel Insight: GRI, net-capture evaluation, AI-driven iteration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6. Conclusions: Performance, cost, risk, path forward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Activities: Rehearse narrative, generate one-pager + poster, record AI highlights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Outputs: docs/final/, figures/final/, FINAL_PRESENTATION.md/.pptx, clean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Final Package &amp; Success Criteria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Final Repository Package: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All docs/ folders polished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Code/ runnable with requirements.txt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Data/ with READMEs for each dataset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Figures/ with generation scripts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ai_logs/ complete prompt/decision trail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engineering_notebook.md (full journey)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draft/ cleaned or archived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Showcase Elements: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Live trajectory plot (Plotly interactive)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Pareto front explorer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Mass budget waterfall chart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GRI vs cost trade visualization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AI decision log timeline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Success Metrics (Academic Lens):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Decision process transparency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Evidence of iteration &amp; learning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At least one novel contribution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Professional formatting &amp; reproducibility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Cross-Cutting: AI Copilot Workflow (from draft/brainstorm/ai_collaboration_techniques.md)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Advanced AI Collaboration Methods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Mandatory Protocol: Every major decision logged in ai_logs/ with prompt, model, response, decision, rationale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Advanced Techniques Used: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1. Multi-Agent Role Play: Chief Engineer / Propulsion Lead / Structures Skeptic / Cost Accountant debate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2. Red Team / Blue Team: Attack current design with worst-case assumptions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3. Generative Design Mutation: LLM proposes new architecture vectors for evolutionary algorithm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4. Explainable Decision Extraction: AI writes technical review justifications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5. Prompt Chaining for UQ: List assumptions → assign uncertainties → qualitative Monte Carlo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6. Historical Failure Injection: "List 5 historical RLV failures related to X. Redesign to avoid."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Logging Standards &amp; Templates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Logging Standard (ai_logs/):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prompts/dayXX_topic.md — exact prompts used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decisions/dayXX_decision_log.md — outcomes &amp; rationale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full_transcripts/ — optional raw responses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Prompt Templates (draft/early_notes/ai_prompt_templates.md):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General Engineering Copilot (role, state, task, requirements)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Trade Study (weighted matrix, sensitivity, risks)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Novelty Injection (unconventional approaches + feasibility)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Stretch Goal: "AI Engineering Copilot Best Practices" appendix in final report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Cross-Cutting: Sustainability &amp; Green Reusability Index (GRI)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GRI Formulation &amp; Trade Space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From draft/brainstorm/sustainability_metrics.md: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GRI = Payload_kg / (CO₂e_kg_per_flight + Refurb_Energy_Penalty)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Components Tracked Across All Days: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Propellant production emissions (methane vs RP-1 vs H₂)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Manufacturing emissions (CFRP energy intensity vs Al)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Refurbishment energy + materials per flight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Recovery transport emissions (ship vs truck vs drone)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End-of-life disposal / recyclability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Trades Enabled by GRI: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LOX/LCH4 vs LOX/RP-1: methane wins on emissions but has boil-off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Bio-derived RP or synthetic methane pathways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Ground landing vs ocean (transport emissions)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3D-printed structures (lower buy-to-fly ratio)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Optimization Target (Day 7): Maximize GRI alongside traditional FoMs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Data Sources &amp; Novel Contribution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Data Sources to Investigate: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LCA papers on Falcon 9, Ariane, Vega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Propellant production LCA databases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Carbon price sensitivity ($/t CO₂e scenarios)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Upper atmosphere effects (H₂O, NOx, black carbon)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Novel Contribution: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Instead of minimizing dry mass alone, optimize for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"emissions per kg-to-orbit over 20 flights"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Early Hypothesis: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A slightly heavier vehicle using sustainable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propellants + shorter refurb time could beat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a lighter but dirtier design on GRI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Alignment with 2025–2026 Trends: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EU/China policy pushing LCA in design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Methalox shift in all new reusable vehicles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Reusability itself reduces manufacturing emissions/flight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Repository Structure &amp; Artifact Map (PROJECT_STRUCTURE.md)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tsinghua-rocket/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10_DAY_BLUEPRINT.md          # Day-by-day roadmap (living)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summer_program.pdf           # Original program reference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README.md                    # Project overview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engineering_notebook.md      # Living design log (core artifact)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PROJECT_STRUCTURE.md         # This structure doc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docs/                        # Formal deliverables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01_mission_requirements/ # Day 1 — 8 files completed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02_rocket_fundamentals/  # Day 2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03_propulsion/           # Day 3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04_mass_budget_materials/# Day 4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05_aerodynamics_trajectory/ # Day 5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06_reusability_recovery/ # Day 6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07_ai_optimization/      # Day 7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08_reliability_economics/# Day 8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09_system_integration/   # Day 9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10_final_presentation/   # Day 10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└── final/                   # Polished final package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analysis/                    # Trade studies, sensitivity, UQ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code/                        # Reusable Python scripts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sizing/                  # first_order_sizer.py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simulation/              # trajectory, aero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optimization/            # multi_objective.py (pymoo)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└── utils/                   # helpers, constants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simulations/                 # Simulation outputs &amp; models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data/                        # Inputs, outputs, benchmarks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inputs/mission_params.json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benchmarks/engines.csv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└── outputs/*.csv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figures/                     # All visuals (code + images)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ai_logs/                     # AI copilot records (critical)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├── prompts/                 # Exact prompts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│   └── decisions/               # Decision logs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subsystems/                  # Deep dives per subsystem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├── references/                  # Papers, datasheets, .bib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└── draft/                       # Temporary (cleaned by Day 10)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    ├── brainstorm/              # Novel ideas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    ├── early_notes/             # Assumptions, strawman</a:t>
            </a:r>
          </a:p>
          <a:p>
            <a:pPr>
              <a:spcAft>
                <a:spcPts val="200"/>
              </a:spcAft>
              <a:defRPr sz="1000">
                <a:solidFill>
                  <a:srgbClr val="2D3436"/>
                </a:solidFill>
              </a:defRPr>
            </a:pPr>
            <a:r>
              <a:t>    └── work_plans/              # Daily micro-plans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Current Baseline Parameters (data/inputs/mission_params.json)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Mission &amp; Constraints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Vehicle Name: Conceptual Small Reusable Launch Vehicle (CRLV-1)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Payload Threshold: 1200 kg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Payload Goal: 2000 kg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Target Orbit: 500 km circular LEO or 700 km SSO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Reuse Target: 10 flights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Reuse Goal: 20 flights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Turnaround Target: 30 days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Turnaround Goal: 14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Figures of Merit Weights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Max G-load: 4.5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Max q: 40 kPa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Landing Accuracy: 100 m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Refurb Cost Limit: 15%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FoM Weights: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Payload: 30%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Cost/kg: 25%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Reusability: 20%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GRI: 15%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Responsiveness: 10%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Key Assumptions (from mission_params.json)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436"/>
                </a:solidFill>
              </a:defRPr>
            </a:pPr>
            <a:r>
              <a:t>• Staging: Two-stage, reusable booster + expendable upper</a:t>
            </a:r>
          </a:p>
          <a:p>
            <a:pPr>
              <a:spcAft>
                <a:spcPts val="800"/>
              </a:spcAft>
              <a:defRPr sz="1400">
                <a:solidFill>
                  <a:srgbClr val="2D3436"/>
                </a:solidFill>
              </a:defRPr>
            </a:pPr>
            <a:r>
              <a:t>• Primary Propellant: LOX/LCH4 (methalox)</a:t>
            </a:r>
          </a:p>
          <a:p>
            <a:pPr>
              <a:spcAft>
                <a:spcPts val="800"/>
              </a:spcAft>
              <a:defRPr sz="1400">
                <a:solidFill>
                  <a:srgbClr val="2D3436"/>
                </a:solidFill>
              </a:defRPr>
            </a:pPr>
            <a:r>
              <a:t>• Recovery Baseline: Propulsive landing with grid fins + legs</a:t>
            </a:r>
          </a:p>
          <a:p>
            <a:pPr>
              <a:spcAft>
                <a:spcPts val="800"/>
              </a:spcAft>
              <a:defRPr sz="1400">
                <a:solidFill>
                  <a:srgbClr val="2D3436"/>
                </a:solidFill>
              </a:defRPr>
            </a:pPr>
            <a:r>
              <a:t>• Alternative Recovery: Net capture on sea platform (evaluated)</a:t>
            </a:r>
          </a:p>
          <a:p>
            <a:pPr>
              <a:spcAft>
                <a:spcPts val="800"/>
              </a:spcAft>
              <a:defRPr sz="1400">
                <a:solidFill>
                  <a:srgbClr val="2D3436"/>
                </a:solidFill>
              </a:defRPr>
            </a:pPr>
            <a:r>
              <a:t>• Sustainability Metric: Green Reusability Index (GRI)</a:t>
            </a:r>
          </a:p>
          <a:p>
            <a:pPr>
              <a:spcAft>
                <a:spcPts val="800"/>
              </a:spcAft>
              <a:defRPr sz="14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2D3436"/>
                </a:solidFill>
              </a:defRPr>
            </a:pPr>
            <a:r>
              <a:t>• Reference Vehicles for Benchmarking:</a:t>
            </a:r>
          </a:p>
          <a:p>
            <a:pPr>
              <a:spcAft>
                <a:spcPts val="800"/>
              </a:spcAft>
              <a:defRPr sz="1400">
                <a:solidFill>
                  <a:srgbClr val="2D3436"/>
                </a:solidFill>
              </a:defRPr>
            </a:pPr>
            <a:r>
              <a:t>•   • SpaceX Falcon 9 (~22800 kg reusable LEO)</a:t>
            </a:r>
          </a:p>
          <a:p>
            <a:pPr>
              <a:spcAft>
                <a:spcPts val="800"/>
              </a:spcAft>
              <a:defRPr sz="1400">
                <a:solidFill>
                  <a:srgbClr val="2D3436"/>
                </a:solidFill>
              </a:defRPr>
            </a:pPr>
            <a:r>
              <a:t>•   • Landspace Zhuque-3 (~18300 kg recovered)</a:t>
            </a:r>
          </a:p>
          <a:p>
            <a:pPr>
              <a:spcAft>
                <a:spcPts val="800"/>
              </a:spcAft>
              <a:defRPr sz="1400">
                <a:solidFill>
                  <a:srgbClr val="2D3436"/>
                </a:solidFill>
              </a:defRPr>
            </a:pPr>
            <a:r>
              <a:t>•   • iSpace Hyperbola-3 (8500 kg recovered)</a:t>
            </a:r>
          </a:p>
          <a:p>
            <a:pPr>
              <a:spcAft>
                <a:spcPts val="800"/>
              </a:spcAft>
              <a:defRPr sz="1400">
                <a:solidFill>
                  <a:srgbClr val="2D3436"/>
                </a:solidFill>
              </a:defRPr>
            </a:pPr>
            <a:r>
              <a:t>•   • Galactic Energy Pallas-1 (8000 kg baseline)</a:t>
            </a:r>
          </a:p>
          <a:p>
            <a:pPr>
              <a:spcAft>
                <a:spcPts val="800"/>
              </a:spcAft>
              <a:defRPr sz="1400">
                <a:solidFill>
                  <a:srgbClr val="2D3436"/>
                </a:solidFill>
              </a:defRPr>
            </a:pPr>
            <a:r>
              <a:t>•   • CASC Long March 12A / 10B (net capture demonstrated 2026)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Engineering Notebook — Evidence of Scientific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Notebook Structure &amp; Day 1 Content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Living document: engineering_notebook.md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Day 1 Entry Includes: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Hypotheses (3) with research backing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Key verified insights (Falcon 9, Chinese vehicles, sustainability)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Requirements work summary with artifacts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Figures of Merit with weights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AI interaction log references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Decisions &amp; rationale (4 major decisions)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Open questions &amp; high-uncertainty items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Next steps for Day 2 transition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Template for Days 2–10: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Focus | Hypotheses Tested | AI Prompts Used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Major Outputs | Decisions &amp; Rationale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Open Questions |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Purpose &amp; Academic Value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Purpose: Primary evidence of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Scientific process adherence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AI collaboration transparency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Iteration &amp; learning documentation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Decision traceability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Cross-References: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ai_logs/prompts/ — exact prompts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ai_logs/decisions/ — outcomes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docs/ — formal deliverables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code/ — reproducible models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figures/ — generated visuals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Academic Value: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Notebook &gt; Perfect rocket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Process documentation is the core grade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Demonstrates engineering judgment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Targeted Novel Contributions (1–2 Core + Supporting)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Novel Contribution</a:t>
                      </a:r>
                    </a:p>
                  </a:txBody>
                  <a:tcPr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Primary Day</a:t>
                      </a:r>
                    </a:p>
                  </a:txBody>
                  <a:tcPr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 &amp; Impact</a:t>
                      </a:r>
                    </a:p>
                  </a:txBody>
                  <a:tcPr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8E44A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1. Green Reusability Index (GRI)</a:t>
                      </a:r>
                    </a:p>
                  </a:txBody>
                  <a:tcPr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Day 1–10</a:t>
                      </a:r>
                    </a:p>
                  </a:txBody>
                  <a:tcPr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Sustainability as top-level FoM with lifecycle CO₂e + refurb penalty; drives propellant, recovery, ops trades</a:t>
                      </a:r>
                    </a:p>
                  </a:txBody>
                  <a:tcPr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Initiated</a:t>
                      </a:r>
                    </a:p>
                  </a:txBody>
                  <a:tcPr>
                    <a:solidFill>
                      <a:srgbClr val="F5EE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2. Net-Capture Recovery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Day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Grounded in LM-10B July 2026 success; formal trade vs propulsive legs; mass &amp; ops implications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Initiated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3. AI Multi-Agent Optimization</a:t>
                      </a:r>
                    </a:p>
                  </a:txBody>
                  <a:tcPr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Day 7</a:t>
                      </a:r>
                    </a:p>
                  </a:txBody>
                  <a:tcPr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LLM-guided evolutionary operators + PINN surrogate + human-in-the-loop Pareto steering</a:t>
                      </a:r>
                    </a:p>
                  </a:txBody>
                  <a:tcPr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5EE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4. Carbon-Priced Cost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Day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Integrated carbon cost ($50–200/t) into recurring economics; sensitivity to propellant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5. Bio-Inspired Morphing Recovery Surfaces</a:t>
                      </a:r>
                    </a:p>
                  </a:txBody>
                  <a:tcPr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Day 6</a:t>
                      </a:r>
                    </a:p>
                  </a:txBody>
                  <a:tcPr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Variable geometry grid fins/control surfaces for ascent/descent optimization</a:t>
                      </a:r>
                    </a:p>
                  </a:txBody>
                  <a:tcPr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5EEF8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6. Circular Recovery Hardware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Day 6/10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AM remanufacturing of landing hardware; design for disassembly &amp; recycle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6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Risk Mitigation &amp; Contingency Plans (from 10_DAY_BLUEPRINT.md)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Risks &amp; Mitigations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Identified Risks: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Time slippage: Prioritize core deliverables; use minimum viable models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Model fidelity gaps: Always state assumptions &amp; limitations explicitly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AI hallucination: Cross-check numbers with literature / simple physics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Scope creep: Freeze requirements after Day 2 (with change log)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Integration failures: Daily mass/performance closure checks from Day 4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Contingency Actions: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If behind: Drop detailed UQ on Day 8 → qualitative + bounds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If ahead: Add stretch novel analysis (PINN trajectory surrogate)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If integration fails: Simplify architecture (fewer engines, fixed recovery)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If AI unreliable: Fall back to conventional methods +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ACC"/>
                </a:solidFill>
              </a:defRPr>
            </a:pPr>
            <a:r>
              <a:t>Milestones &amp; Success Criteria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Milestones &amp; Checkpoints: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End Day 3: Baseline vehicle exists (rough numbers)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End Day 6: Reusable concept closed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End Day 7: ≥1 major AI-driven iteration complete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End Day 8: Quantified cost/risk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End Day 9: All subsystems integrated, review ready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• End Day 10: Showcase ready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Success Measurement (Academic Lens):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1. Quality &amp; transparency of decision process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2. Evidence of iteration &amp; learning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3. Clarity of communication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4. ≥1 novel or non-obvious insight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  5. Professional formatting &amp; reproducibility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2D3436"/>
                </a:solidFill>
              </a:defRPr>
            </a:pPr>
            <a:r>
              <a:t>• Remember: Journey &amp; documented reasoning &gt; perfect rocket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941832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CRLV-1: AI Co-Design of a Reusable Rocket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CCE5FF"/>
                </a:solidFill>
              </a:defRPr>
            </a:pPr>
            <a:r>
              <a:t>10-Day Journey Complete  —  From Mission Definition to Technical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B8A9"/>
                </a:solidFill>
              </a:defRPr>
            </a:pPr>
            <a:r>
              <a:t>Key Deliverables: Mission Requirements · Vehicle Sizing · Propulsion Trade · Mass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B8A9"/>
                </a:solidFill>
              </a:defRPr>
            </a:pPr>
            <a:r>
              <a:t>Trajectory Sims · Recovery Concept · AI Optimization · Cost/Risk · Integrated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27AE60"/>
                </a:solidFill>
              </a:defRPr>
            </a:pPr>
            <a:r>
              <a:t>Novel Contributions: GRI · Net-Capture Evaluation · AI Multi-Agent MDO · Carbon-Priced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</a:defRPr>
            </a:pPr>
            <a:r>
              <a:t>清华大学暑期项目 · 2026年7月  ·  AI辅助工程设计工作流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